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5" Type="http://schemas.openxmlformats.org/officeDocument/2006/relationships/tableStyles" Target="tableStyles.xml"/><Relationship Id="rId14" Type="http://schemas.openxmlformats.org/officeDocument/2006/relationships/viewProps" Target="viewProps.xml"/><Relationship Id="rId13" Type="http://schemas.openxmlformats.org/officeDocument/2006/relationships/presProps" Target="presProps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1 script:
- Ik toon vandaag een compacte end-to-end time series case met ARIMA.
- De focus ligt op begrijpelijke stappen: data bekijken, stationariteit, parameterkeuze en evaluatie.
- Ik eindig met een demo van de forecast.
[Sources]
- Dataset file: daily-min-temperatures.csv, downloaded from Jason Brownlee's public dataset repository on GitHub.
- Right-side chart is derived from that dataset by the presentation author.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2 script:
- Ik heb bewust het eenvoudigste onderwerp gekozen dat toch academisch correct en toonbaar is.
- Daarmee toon ik niet alleen een forecast, maar ook een volledige methodiek.
- De jury ziet zo duidelijk welke stappen ik neem van ruwe data naar resultaat.
[Sources]
- No external non-trivial claims beyond general examples of time-series applications.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3 script:
- Dit is de ruwe tijdreeks. De dataset bevat 3 650 dagelijkse metingen over tien jaar.
- Meteen zie je dat de waarden niet willekeurig zijn: er zit ritme en seizoensgedrag in.
- Dat maakt forecasting zinvol, want het verleden draagt informatie over de toekomst.
[Sources]
- Dataset file: daily-min-temperatures.csv from Jason Brownlee's public dataset repository on GitHub.
- Main plot is derived from that dataset by the presentation author.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4 script:
- Met de rolling mean maak ik de langzamere bewegingen zichtbaar.
- Daarna neem ik het eerste verschil. Dat haalt een deel van de trendstructuur weg en helpt om de reeks stationairder te maken.
- Die stap verklaart meteen de d=1 in mijn uiteindelijke ARIMA-model.
[Sources]
- Both charts are derived from daily-min-temperatures.csv by the presentation author.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5 script:
- Op deze slide leg ik ARIMA zo simpel mogelijk uit.
- p zegt hoeveel verleden ik rechtstreeks gebruik, d zegt hoeveel verschilstappen ik neem, en q vangt foutstructuur op.
- Ik hoef hier niet diep in de wiskunde te gaan; het doel is tonen dat de parameters betekenis hebben.
[Sources]
- General ARIMA terminology; no external asset used.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6 script:
- In plaats van de ARIMA-parameters op gevoel te kiezen, laat ik een kleine automatische zoekprocedure lopen.
- Ik vergelijk modellen met AIC, een maat die zowel modelkwaliteit als complexiteit meeneemt.
- Zo kan ik objectief motiveren waarom ik eindig op ARIMA(2,1,1).
[Sources]
- Heatmap is derived from grid-search results computed by the presentation author on daily-min-temperatures.csv.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7 script:
- Hier toon ik de finale forecast op de volledige reeks, voor de komende 30 dagen.
- Belangrijk: ik toon niet alleen een lijn, maar ook een confidence interval.
- Dat maakt de output professioneler en eerlijker, omdat elk voorspellingsmodel onzekerheid heeft.
[Sources]
- Forecast chart is derived from ARIMA(2,1,1) fitted by the presentation author on daily-min-temperatures.csv.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8 script:
- Deze slide is mijn sterkste evaluatieslide. Ik train op 80 procent van de data en test op de resterende 20 procent.
- Daarna vergelijk ik echte waarden met de forecast.
- De RMSE van 5.28 geeft een concrete foutmaat. Dat maakt mijn project methodisch sterker.
[Sources]
- Evaluation chart is derived from ARIMA(2,1,1) fitted by the presentation author on daily-min-temperatures.csv.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9 script:
- In de demo hou ik het bewust kort en gecontroleerd. Ik toon alleen de stappen die mijn verhaal ondersteunen.
- Mijn conclusie is dat ARIMA een heel geschikte keuze is voor een eerste maar serieuze forecastingcase.
- Als uitbreiding kan ik SARIMA of LSTM noemen zonder mijn huidige project nodeloos complex te maken.
[Sources]
- No external asset used.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16324F"/>
          </a:solidFill>
          <a:ln w="12700">
            <a:solidFill>
              <a:srgbClr val="16324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6446520"/>
            <a:ext cx="621792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5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Machine Learning Advanced - Time Series / ARIMA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9966960" y="6446520"/>
            <a:ext cx="155448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5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 april presentatie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67160" y="6419088"/>
            <a:ext cx="228600" cy="182880"/>
          </a:xfrm>
          <a:prstGeom prst="rect">
            <a:avLst/>
          </a:prstGeom>
        </p:spPr>
        <p:txBody>
          <a:bodyPr/>
          <a:lstStyle>
            <a:lvl1pPr>
              <a:defRPr sz="1000">
                <a:solidFill>
                  <a:srgbClr val="5B6572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67160" y="6419088"/>
            <a:ext cx="228600" cy="182880"/>
          </a:xfrm>
          <a:prstGeom prst="rect">
            <a:avLst/>
          </a:prstGeom>
        </p:spPr>
        <p:txBody>
          <a:bodyPr/>
          <a:lstStyle>
            <a:lvl1pPr>
              <a:defRPr sz="1000">
                <a:solidFill>
                  <a:srgbClr val="5B6572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4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6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21792" y="777240"/>
            <a:ext cx="10972800" cy="5120640"/>
          </a:xfrm>
          <a:prstGeom prst="roundRect">
            <a:avLst>
              <a:gd name="adj" fmla="val 1429"/>
            </a:avLst>
          </a:prstGeom>
          <a:solidFill>
            <a:srgbClr val="FFFFFF"/>
          </a:solidFill>
          <a:ln w="12700">
            <a:solidFill>
              <a:srgbClr val="D7E0EA"/>
            </a:solidFill>
            <a:prstDash val="solid"/>
          </a:ln>
          <a:effectLst>
            <a:outerShdw blurRad="25400" dist="1016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" name="Shape 1"/>
          <p:cNvSpPr/>
          <p:nvPr/>
        </p:nvSpPr>
        <p:spPr>
          <a:xfrm>
            <a:off x="621792" y="777240"/>
            <a:ext cx="10972800" cy="256032"/>
          </a:xfrm>
          <a:prstGeom prst="rect">
            <a:avLst/>
          </a:prstGeom>
          <a:solidFill>
            <a:srgbClr val="16324F"/>
          </a:solidFill>
          <a:ln w="12700">
            <a:solidFill>
              <a:srgbClr val="16324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14400" y="1325880"/>
            <a:ext cx="6035040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632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Time Series Forecasting met ARIMA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914400" y="2011680"/>
            <a:ext cx="6126480" cy="8046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Een eenvoudige maar volledige case: dataset verkennen, stationair maken, ARIMA automatisch optimaliseren en de forecast evalueren.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932688" y="3108960"/>
            <a:ext cx="2194560" cy="960120"/>
          </a:xfrm>
          <a:prstGeom prst="roundRect">
            <a:avLst>
              <a:gd name="adj" fmla="val 7619"/>
            </a:avLst>
          </a:prstGeom>
          <a:solidFill>
            <a:srgbClr val="EAF2FF"/>
          </a:solidFill>
          <a:ln w="12700">
            <a:solidFill>
              <a:srgbClr val="EAF2FF"/>
            </a:solidFill>
            <a:prstDash val="solid"/>
          </a:ln>
          <a:effectLst>
            <a:outerShdw blurRad="19050" dist="508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932688" y="3108960"/>
            <a:ext cx="64008" cy="960120"/>
          </a:xfrm>
          <a:prstGeom prst="rect">
            <a:avLst/>
          </a:prstGeom>
          <a:solidFill>
            <a:srgbClr val="2E6FDE"/>
          </a:solidFill>
          <a:ln w="12700">
            <a:solidFill>
              <a:srgbClr val="2E6FD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161288" y="3246120"/>
            <a:ext cx="187452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632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3 650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1161288" y="3675888"/>
            <a:ext cx="187452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B65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dagelijkse observaties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3337560" y="3108960"/>
            <a:ext cx="2194560" cy="960120"/>
          </a:xfrm>
          <a:prstGeom prst="roundRect">
            <a:avLst>
              <a:gd name="adj" fmla="val 7619"/>
            </a:avLst>
          </a:prstGeom>
          <a:solidFill>
            <a:srgbClr val="E8F7F7"/>
          </a:solidFill>
          <a:ln w="12700">
            <a:solidFill>
              <a:srgbClr val="E8F7F7"/>
            </a:solidFill>
            <a:prstDash val="solid"/>
          </a:ln>
          <a:effectLst>
            <a:outerShdw blurRad="19050" dist="508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337560" y="3108960"/>
            <a:ext cx="64008" cy="960120"/>
          </a:xfrm>
          <a:prstGeom prst="rect">
            <a:avLst/>
          </a:prstGeom>
          <a:solidFill>
            <a:srgbClr val="1FA5A5"/>
          </a:solidFill>
          <a:ln w="12700">
            <a:solidFill>
              <a:srgbClr val="1FA5A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566160" y="3246120"/>
            <a:ext cx="187452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632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ARIMA(2,1,1)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3566160" y="3675888"/>
            <a:ext cx="187452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B65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beste order via AIC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742432" y="3108960"/>
            <a:ext cx="1920240" cy="960120"/>
          </a:xfrm>
          <a:prstGeom prst="roundRect">
            <a:avLst>
              <a:gd name="adj" fmla="val 7619"/>
            </a:avLst>
          </a:prstGeom>
          <a:solidFill>
            <a:srgbClr val="EAF6EE"/>
          </a:solidFill>
          <a:ln w="12700">
            <a:solidFill>
              <a:srgbClr val="EAF6EE"/>
            </a:solidFill>
            <a:prstDash val="solid"/>
          </a:ln>
          <a:effectLst>
            <a:outerShdw blurRad="19050" dist="508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5742432" y="3108960"/>
            <a:ext cx="64008" cy="960120"/>
          </a:xfrm>
          <a:prstGeom prst="rect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971032" y="3246120"/>
            <a:ext cx="160020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632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RMSE 5.28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5971032" y="3675888"/>
            <a:ext cx="16002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B65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testfout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960120" y="4617720"/>
            <a:ext cx="347472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5B65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Machine Learning Advanced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5B65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Presentatie + demo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67160" y="6419088"/>
            <a:ext cx="228600" cy="182880"/>
          </a:xfrm>
          <a:prstGeom prst="rect">
            <a:avLst/>
          </a:prstGeom>
        </p:spPr>
        <p:txBody>
          <a:bodyPr/>
          <a:lstStyle>
            <a:lvl1pPr>
              <a:defRPr sz="1000">
                <a:solidFill>
                  <a:srgbClr val="5B6572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11480"/>
            <a:ext cx="786384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632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Waarom dit onderwerp?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94360" y="850392"/>
            <a:ext cx="804672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B65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Het simpelste onderwerp dat toch genoeg diepgang toont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777240" y="1417320"/>
            <a:ext cx="5303520" cy="2331720"/>
          </a:xfrm>
          <a:prstGeom prst="rect">
            <a:avLst/>
          </a:prstGeom>
          <a:noFill/>
        </p:spPr>
        <p:txBody>
          <a:bodyPr wrap="square" lIns="1016" tIns="1016" rIns="1016" bIns="1016" rtlCol="0" anchor="ctr"/>
          <a:lstStyle/>
          <a:p>
            <a:pPr marL="0" indent="0">
              <a:buSzPct val="100000"/>
              <a:buNone/>
            </a:pPr>
            <a:r>
              <a:rPr lang="en-US" sz="190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Time series forecasting komt vaak voor in praktijk: weer, energie, verkoop, sensordata.</a:t>
            </a:r>
            <a:r>
              <a:rPr lang="en-US" sz="190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
</a:t>
            </a:r>
            <a:endParaRPr lang="en-US" sz="1900" dirty="0"/>
          </a:p>
          <a:p>
            <a:pPr marL="0" indent="0">
              <a:buSzPct val="100000"/>
              <a:buNone/>
            </a:pPr>
            <a:r>
              <a:rPr lang="en-US" sz="190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ARIMA is mathematisch klassiek, maar nog altijd sterk voor kleine en middelgrote tijdreeksen.</a:t>
            </a:r>
            <a:r>
              <a:rPr lang="en-US" sz="190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
</a:t>
            </a:r>
            <a:endParaRPr lang="en-US" sz="1900" dirty="0"/>
          </a:p>
          <a:p>
            <a:pPr marL="203200" indent="-203200">
              <a:buSzPct val="100000"/>
              <a:buChar char="•"/>
            </a:pPr>
            <a:r>
              <a:rPr lang="en-US" sz="190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Het project blijft haalbaar: één dataset, één modelklasse, duidelijke visualisaties en een korte demo.</a:t>
            </a:r>
            <a:endParaRPr lang="en-US" sz="1900" dirty="0"/>
          </a:p>
        </p:txBody>
      </p:sp>
      <p:sp>
        <p:nvSpPr>
          <p:cNvPr id="5" name="Shape 3"/>
          <p:cNvSpPr/>
          <p:nvPr/>
        </p:nvSpPr>
        <p:spPr>
          <a:xfrm>
            <a:off x="6583680" y="1353312"/>
            <a:ext cx="4892040" cy="4251960"/>
          </a:xfrm>
          <a:prstGeom prst="roundRect">
            <a:avLst>
              <a:gd name="adj" fmla="val 1290"/>
            </a:avLst>
          </a:prstGeom>
          <a:solidFill>
            <a:srgbClr val="FFFFFF"/>
          </a:solidFill>
          <a:ln w="12700">
            <a:solidFill>
              <a:srgbClr val="D7E0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903720" y="1664208"/>
            <a:ext cx="23774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632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Project flow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6903720" y="2148840"/>
            <a:ext cx="310896" cy="310896"/>
          </a:xfrm>
          <a:prstGeom prst="ellipse">
            <a:avLst/>
          </a:prstGeom>
          <a:solidFill>
            <a:srgbClr val="2E6FDE"/>
          </a:solidFill>
          <a:ln w="12700">
            <a:solidFill>
              <a:srgbClr val="2E6FD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903720" y="2167128"/>
            <a:ext cx="310896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333488" y="2139696"/>
            <a:ext cx="347472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Dataset laden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6903720" y="2679192"/>
            <a:ext cx="310896" cy="310896"/>
          </a:xfrm>
          <a:prstGeom prst="ellipse">
            <a:avLst/>
          </a:prstGeom>
          <a:solidFill>
            <a:srgbClr val="2E6FDE"/>
          </a:solidFill>
          <a:ln w="12700">
            <a:solidFill>
              <a:srgbClr val="2E6FD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903720" y="2697480"/>
            <a:ext cx="310896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7333488" y="2670048"/>
            <a:ext cx="347472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Patronen visualiseren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6903720" y="3209544"/>
            <a:ext cx="310896" cy="310896"/>
          </a:xfrm>
          <a:prstGeom prst="ellipse">
            <a:avLst/>
          </a:prstGeom>
          <a:solidFill>
            <a:srgbClr val="2E6FDE"/>
          </a:solidFill>
          <a:ln w="12700">
            <a:solidFill>
              <a:srgbClr val="2E6FD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903720" y="3227832"/>
            <a:ext cx="310896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7333488" y="3200400"/>
            <a:ext cx="347472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Stationair maken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6903720" y="3739896"/>
            <a:ext cx="310896" cy="310896"/>
          </a:xfrm>
          <a:prstGeom prst="ellipse">
            <a:avLst/>
          </a:prstGeom>
          <a:solidFill>
            <a:srgbClr val="1FA5A5"/>
          </a:solidFill>
          <a:ln w="12700">
            <a:solidFill>
              <a:srgbClr val="1FA5A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903720" y="3758184"/>
            <a:ext cx="310896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7333488" y="3730752"/>
            <a:ext cx="347472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ARIMA order kiezen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6903720" y="4270248"/>
            <a:ext cx="310896" cy="310896"/>
          </a:xfrm>
          <a:prstGeom prst="ellipse">
            <a:avLst/>
          </a:prstGeom>
          <a:solidFill>
            <a:srgbClr val="1FA5A5"/>
          </a:solidFill>
          <a:ln w="12700">
            <a:solidFill>
              <a:srgbClr val="1FA5A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903720" y="4288536"/>
            <a:ext cx="310896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7333488" y="4261104"/>
            <a:ext cx="347472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Forecast evalueren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6903720" y="4800600"/>
            <a:ext cx="310896" cy="310896"/>
          </a:xfrm>
          <a:prstGeom prst="ellipse">
            <a:avLst/>
          </a:prstGeom>
          <a:solidFill>
            <a:srgbClr val="1FA5A5"/>
          </a:solidFill>
          <a:ln w="12700">
            <a:solidFill>
              <a:srgbClr val="1FA5A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903720" y="4818888"/>
            <a:ext cx="310896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7333488" y="4791456"/>
            <a:ext cx="347472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Demo tonen</a:t>
            </a:r>
            <a:endParaRPr lang="en-US" sz="1600" dirty="0"/>
          </a:p>
        </p:txBody>
      </p:sp>
      <p:sp>
        <p:nvSpPr>
          <p:cNvPr id="26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67160" y="6419088"/>
            <a:ext cx="228600" cy="182880"/>
          </a:xfrm>
          <a:prstGeom prst="rect">
            <a:avLst/>
          </a:prstGeom>
        </p:spPr>
        <p:txBody>
          <a:bodyPr/>
          <a:lstStyle>
            <a:lvl1pPr>
              <a:defRPr sz="1000">
                <a:solidFill>
                  <a:srgbClr val="5B6572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11480"/>
            <a:ext cx="786384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632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Dataset en eerste observaties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94360" y="850392"/>
            <a:ext cx="804672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B65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 jaar dagelijkse minimumtemperaturen</a:t>
            </a:r>
            <a:endParaRPr lang="en-US" sz="1250" dirty="0"/>
          </a:p>
        </p:txBody>
      </p:sp>
      <p:pic>
        <p:nvPicPr>
          <p:cNvPr id="4" name="Image 0" descr="/mnt/data/assets_arima/series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787698"/>
            <a:ext cx="7315200" cy="3465484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8366760" y="1444752"/>
            <a:ext cx="2377440" cy="914400"/>
          </a:xfrm>
          <a:prstGeom prst="roundRect">
            <a:avLst>
              <a:gd name="adj" fmla="val 8000"/>
            </a:avLst>
          </a:prstGeom>
          <a:solidFill>
            <a:srgbClr val="EAF2FF"/>
          </a:solidFill>
          <a:ln w="12700">
            <a:solidFill>
              <a:srgbClr val="EAF2FF"/>
            </a:solidFill>
            <a:prstDash val="solid"/>
          </a:ln>
          <a:effectLst>
            <a:outerShdw blurRad="19050" dist="508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8366760" y="1444752"/>
            <a:ext cx="64008" cy="914400"/>
          </a:xfrm>
          <a:prstGeom prst="rect">
            <a:avLst/>
          </a:prstGeom>
          <a:solidFill>
            <a:srgbClr val="2E6FDE"/>
          </a:solidFill>
          <a:ln w="12700">
            <a:solidFill>
              <a:srgbClr val="2E6FDE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8595360" y="1581912"/>
            <a:ext cx="205740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632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1981-1990</a:t>
            </a:r>
            <a:endParaRPr lang="en-US" sz="2400" dirty="0"/>
          </a:p>
        </p:txBody>
      </p:sp>
      <p:sp>
        <p:nvSpPr>
          <p:cNvPr id="8" name="Text 5"/>
          <p:cNvSpPr/>
          <p:nvPr/>
        </p:nvSpPr>
        <p:spPr>
          <a:xfrm>
            <a:off x="8595360" y="2011680"/>
            <a:ext cx="20574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B65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periode in de dataset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8366760" y="2560320"/>
            <a:ext cx="2377440" cy="914400"/>
          </a:xfrm>
          <a:prstGeom prst="roundRect">
            <a:avLst>
              <a:gd name="adj" fmla="val 8000"/>
            </a:avLst>
          </a:prstGeom>
          <a:solidFill>
            <a:srgbClr val="E8F7F7"/>
          </a:solidFill>
          <a:ln w="12700">
            <a:solidFill>
              <a:srgbClr val="E8F7F7"/>
            </a:solidFill>
            <a:prstDash val="solid"/>
          </a:ln>
          <a:effectLst>
            <a:outerShdw blurRad="19050" dist="508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8366760" y="2560320"/>
            <a:ext cx="64008" cy="914400"/>
          </a:xfrm>
          <a:prstGeom prst="rect">
            <a:avLst/>
          </a:prstGeom>
          <a:solidFill>
            <a:srgbClr val="1FA5A5"/>
          </a:solidFill>
          <a:ln w="12700">
            <a:solidFill>
              <a:srgbClr val="1FA5A5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8595360" y="2697480"/>
            <a:ext cx="205740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632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 dag</a:t>
            </a:r>
            <a:endParaRPr lang="en-US" sz="2400" dirty="0"/>
          </a:p>
        </p:txBody>
      </p:sp>
      <p:sp>
        <p:nvSpPr>
          <p:cNvPr id="12" name="Text 9"/>
          <p:cNvSpPr/>
          <p:nvPr/>
        </p:nvSpPr>
        <p:spPr>
          <a:xfrm>
            <a:off x="8595360" y="3127248"/>
            <a:ext cx="20574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B65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frequentie van de meting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8366760" y="3675888"/>
            <a:ext cx="2377440" cy="914400"/>
          </a:xfrm>
          <a:prstGeom prst="roundRect">
            <a:avLst>
              <a:gd name="adj" fmla="val 8000"/>
            </a:avLst>
          </a:prstGeom>
          <a:solidFill>
            <a:srgbClr val="EAF6EE"/>
          </a:solidFill>
          <a:ln w="12700">
            <a:solidFill>
              <a:srgbClr val="EAF6EE"/>
            </a:solidFill>
            <a:prstDash val="solid"/>
          </a:ln>
          <a:effectLst>
            <a:outerShdw blurRad="19050" dist="508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8366760" y="3675888"/>
            <a:ext cx="64008" cy="914400"/>
          </a:xfrm>
          <a:prstGeom prst="rect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595360" y="3813048"/>
            <a:ext cx="205740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632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Seizoenen</a:t>
            </a:r>
            <a:endParaRPr lang="en-US" sz="2400" dirty="0"/>
          </a:p>
        </p:txBody>
      </p:sp>
      <p:sp>
        <p:nvSpPr>
          <p:cNvPr id="16" name="Text 13"/>
          <p:cNvSpPr/>
          <p:nvPr/>
        </p:nvSpPr>
        <p:spPr>
          <a:xfrm>
            <a:off x="8595360" y="4242816"/>
            <a:ext cx="20574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B65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duidelijk zichtbaar patroon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67160" y="6419088"/>
            <a:ext cx="228600" cy="182880"/>
          </a:xfrm>
          <a:prstGeom prst="rect">
            <a:avLst/>
          </a:prstGeom>
        </p:spPr>
        <p:txBody>
          <a:bodyPr/>
          <a:lstStyle>
            <a:lvl1pPr>
              <a:defRPr sz="1000">
                <a:solidFill>
                  <a:srgbClr val="5B6572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11480"/>
            <a:ext cx="786384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632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Voorbewerking: trend lezen en stationariteit benaderen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94360" y="850392"/>
            <a:ext cx="804672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B65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</a:t>
            </a:r>
            <a:endParaRPr lang="en-US" sz="1250" dirty="0">
              <a:solidFill>
                <a:srgbClr val="5B6572"/>
              </a:solidFill>
              <a:latin typeface="Aptos" pitchFamily="34" charset="0"/>
              <a:ea typeface="Aptos" pitchFamily="34" charset="-122"/>
              <a:cs typeface="Aptos" pitchFamily="34" charset="-120"/>
            </a:endParaRPr>
          </a:p>
          <a:p>
            <a:pPr marL="0" indent="0">
              <a:buNone/>
            </a:pPr>
            <a:endParaRPr lang="en-US" altLang="en-US" sz="1250" dirty="0">
              <a:solidFill>
                <a:srgbClr val="5B6572"/>
              </a:solidFill>
              <a:latin typeface="Aptos" pitchFamily="34" charset="0"/>
              <a:ea typeface="Aptos" pitchFamily="34" charset="-122"/>
              <a:cs typeface="Aptos" pitchFamily="34" charset="-120"/>
            </a:endParaRPr>
          </a:p>
          <a:p>
            <a:pPr marL="0" indent="0">
              <a:buNone/>
            </a:pPr>
            <a:r>
              <a:rPr lang="nl-BE" altLang="en-US" sz="1250" dirty="0">
                <a:solidFill>
                  <a:srgbClr val="5B65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</a:t>
            </a:r>
            <a:r>
              <a:rPr lang="en-US" sz="1250" dirty="0">
                <a:solidFill>
                  <a:srgbClr val="5B65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wee eenvoudige visualisaties maken de metodiek begrijpelijk</a:t>
            </a:r>
            <a:endParaRPr lang="en-US" sz="1250" dirty="0"/>
          </a:p>
        </p:txBody>
      </p:sp>
      <p:pic>
        <p:nvPicPr>
          <p:cNvPr id="4" name="Image 0" descr="/mnt/data/assets_arima/rolling_mean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" y="2151103"/>
            <a:ext cx="5394960" cy="2555794"/>
          </a:xfrm>
          <a:prstGeom prst="rect">
            <a:avLst/>
          </a:prstGeom>
        </p:spPr>
      </p:pic>
      <p:pic>
        <p:nvPicPr>
          <p:cNvPr id="5" name="Image 1" descr="/mnt/data/assets_arima/differenc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72200" y="2161933"/>
            <a:ext cx="5349240" cy="2534135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868680" y="5504688"/>
            <a:ext cx="301752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B65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Links: 30-daags rollend gemiddelde</a:t>
            </a:r>
            <a:endParaRPr lang="en-US" sz="1200" dirty="0"/>
          </a:p>
        </p:txBody>
      </p:sp>
      <p:sp>
        <p:nvSpPr>
          <p:cNvPr id="7" name="Text 3"/>
          <p:cNvSpPr/>
          <p:nvPr/>
        </p:nvSpPr>
        <p:spPr>
          <a:xfrm>
            <a:off x="6400800" y="5504688"/>
            <a:ext cx="274320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B65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Rechts: eerste verschil van de reeks</a:t>
            </a:r>
            <a:endParaRPr lang="en-US" sz="1200" dirty="0"/>
          </a:p>
        </p:txBody>
      </p:sp>
      <p:sp>
        <p:nvSpPr>
          <p:cNvPr id="8" name="Shape 4"/>
          <p:cNvSpPr/>
          <p:nvPr/>
        </p:nvSpPr>
        <p:spPr>
          <a:xfrm>
            <a:off x="9144000" y="4709160"/>
            <a:ext cx="2423160" cy="658368"/>
          </a:xfrm>
          <a:prstGeom prst="roundRect">
            <a:avLst>
              <a:gd name="adj" fmla="val 8333"/>
            </a:avLst>
          </a:prstGeom>
          <a:solidFill>
            <a:srgbClr val="EAF2FF"/>
          </a:solidFill>
          <a:ln w="12700">
            <a:solidFill>
              <a:srgbClr val="EAF2FF"/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9308592" y="4828032"/>
            <a:ext cx="205740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3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Waarom differentiëren?</a:t>
            </a:r>
            <a:endParaRPr lang="en-US" sz="1230" dirty="0"/>
          </a:p>
          <a:p>
            <a:pPr marL="0" indent="0">
              <a:buNone/>
            </a:pPr>
            <a:r>
              <a:rPr lang="en-US" sz="123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ARIMA werkt beter als het gemiddelde niet wegdrijft.</a:t>
            </a:r>
            <a:endParaRPr lang="en-US" sz="123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67160" y="6419088"/>
            <a:ext cx="228600" cy="182880"/>
          </a:xfrm>
          <a:prstGeom prst="rect">
            <a:avLst/>
          </a:prstGeom>
        </p:spPr>
        <p:txBody>
          <a:bodyPr/>
          <a:lstStyle>
            <a:lvl1pPr>
              <a:defRPr sz="1000">
                <a:solidFill>
                  <a:srgbClr val="5B6572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11480"/>
            <a:ext cx="786384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632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ARIMA in één slide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94360" y="850392"/>
            <a:ext cx="804672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B65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AR = AutoRegressive, I = Integrated, MA = Moving Average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749808" y="1554480"/>
            <a:ext cx="3337560" cy="3291840"/>
          </a:xfrm>
          <a:prstGeom prst="roundRect">
            <a:avLst>
              <a:gd name="adj" fmla="val 1667"/>
            </a:avLst>
          </a:prstGeom>
          <a:solidFill>
            <a:srgbClr val="FFFFFF"/>
          </a:solidFill>
          <a:ln w="12700">
            <a:solidFill>
              <a:srgbClr val="D7E0E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425696" y="1554480"/>
            <a:ext cx="3337560" cy="3291840"/>
          </a:xfrm>
          <a:prstGeom prst="roundRect">
            <a:avLst>
              <a:gd name="adj" fmla="val 1667"/>
            </a:avLst>
          </a:prstGeom>
          <a:solidFill>
            <a:srgbClr val="FFFFFF"/>
          </a:solidFill>
          <a:ln w="12700">
            <a:solidFill>
              <a:srgbClr val="D7E0E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101584" y="1554480"/>
            <a:ext cx="3337560" cy="3291840"/>
          </a:xfrm>
          <a:prstGeom prst="roundRect">
            <a:avLst>
              <a:gd name="adj" fmla="val 1667"/>
            </a:avLst>
          </a:prstGeom>
          <a:solidFill>
            <a:srgbClr val="FFFFFF"/>
          </a:solidFill>
          <a:ln w="12700">
            <a:solidFill>
              <a:srgbClr val="D7E0E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05840" y="1901952"/>
            <a:ext cx="256032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2E6FD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AR (p)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005840" y="2697480"/>
            <a:ext cx="2743200" cy="1143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hoeveel vorige waarden het model direct gebruikt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1097280" y="2395728"/>
            <a:ext cx="2468880" cy="0"/>
          </a:xfrm>
          <a:prstGeom prst="line">
            <a:avLst/>
          </a:prstGeom>
          <a:noFill/>
          <a:ln w="12700">
            <a:solidFill>
              <a:srgbClr val="2E6FD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681728" y="1901952"/>
            <a:ext cx="256032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FA5A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 (d)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4681728" y="2697480"/>
            <a:ext cx="2743200" cy="1143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hoe vaak we differentiëren om stationariteit te benaderen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4773168" y="2395728"/>
            <a:ext cx="2468880" cy="0"/>
          </a:xfrm>
          <a:prstGeom prst="line">
            <a:avLst/>
          </a:prstGeom>
          <a:noFill/>
          <a:ln w="12700">
            <a:solidFill>
              <a:srgbClr val="1FA5A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357616" y="1901952"/>
            <a:ext cx="256032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2E8B5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MA (q)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8357616" y="2697480"/>
            <a:ext cx="2743200" cy="1143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hoe het model eerdere voorspellingsfouten meeneemt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8449056" y="2395728"/>
            <a:ext cx="2468880" cy="0"/>
          </a:xfrm>
          <a:prstGeom prst="line">
            <a:avLst/>
          </a:prstGeom>
          <a:noFill/>
          <a:ln w="12700">
            <a:solidFill>
              <a:srgbClr val="2E8B5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14400" y="5074920"/>
            <a:ext cx="1024128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 dit project blijkt ARIMA(2,1,1) de beste combinatie: twee lags, één verschil, één foutterm.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67160" y="6419088"/>
            <a:ext cx="228600" cy="182880"/>
          </a:xfrm>
          <a:prstGeom prst="rect">
            <a:avLst/>
          </a:prstGeom>
        </p:spPr>
        <p:txBody>
          <a:bodyPr/>
          <a:lstStyle>
            <a:lvl1pPr>
              <a:defRPr sz="1000">
                <a:solidFill>
                  <a:srgbClr val="5B6572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11480"/>
            <a:ext cx="786384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632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Automatische optimalisatie van (p,d,q)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94360" y="850392"/>
            <a:ext cx="804672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B65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Eenvoudige grid search met AIC als selectiecriterium</a:t>
            </a:r>
            <a:endParaRPr lang="en-US" sz="1250" dirty="0"/>
          </a:p>
        </p:txBody>
      </p:sp>
      <p:pic>
        <p:nvPicPr>
          <p:cNvPr id="4" name="Image 0" descr="/mnt/data/assets_arima/aic_gri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568096"/>
            <a:ext cx="5394960" cy="395040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492240" y="1463040"/>
            <a:ext cx="5029200" cy="4160520"/>
          </a:xfrm>
          <a:prstGeom prst="roundRect">
            <a:avLst>
              <a:gd name="adj" fmla="val 1319"/>
            </a:avLst>
          </a:prstGeom>
          <a:solidFill>
            <a:srgbClr val="FFFFFF"/>
          </a:solidFill>
          <a:ln w="12700">
            <a:solidFill>
              <a:srgbClr val="D7E0E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748272" y="2148840"/>
            <a:ext cx="4389120" cy="1783080"/>
          </a:xfrm>
          <a:prstGeom prst="rect">
            <a:avLst/>
          </a:prstGeom>
          <a:noFill/>
        </p:spPr>
        <p:txBody>
          <a:bodyPr wrap="square" lIns="1016" tIns="1016" rIns="1016" bIns="1016" rtlCol="0" anchor="ctr"/>
          <a:lstStyle/>
          <a:p>
            <a:pPr marL="0" indent="0">
              <a:buSzPct val="100000"/>
              <a:buNone/>
            </a:pPr>
            <a:r>
              <a:rPr lang="en-US" sz="175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Ik test kleine combinaties van p, d en q.</a:t>
            </a:r>
            <a:r>
              <a:rPr lang="en-US" sz="175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
</a:t>
            </a:r>
            <a:endParaRPr lang="en-US" sz="1750" dirty="0"/>
          </a:p>
          <a:p>
            <a:pPr marL="0" indent="0">
              <a:buSzPct val="100000"/>
              <a:buNone/>
            </a:pPr>
            <a:r>
              <a:rPr lang="en-US" sz="175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Voor elk model bereken ik de AIC-score.</a:t>
            </a:r>
            <a:r>
              <a:rPr lang="en-US" sz="175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
</a:t>
            </a:r>
            <a:endParaRPr lang="en-US" sz="1750" dirty="0"/>
          </a:p>
          <a:p>
            <a:pPr marL="0" indent="0">
              <a:buSzPct val="100000"/>
              <a:buNone/>
            </a:pPr>
            <a:r>
              <a:rPr lang="en-US" sz="175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 laagste AIC betekent hier de beste balans tussen fit en complexiteit.</a:t>
            </a:r>
            <a:r>
              <a:rPr lang="en-US" sz="175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
</a:t>
            </a:r>
            <a:endParaRPr lang="en-US" sz="1750" dirty="0"/>
          </a:p>
          <a:p>
            <a:pPr marL="203200" indent="-203200">
              <a:buSzPct val="100000"/>
              <a:buChar char="•"/>
            </a:pPr>
            <a:r>
              <a:rPr lang="en-US" sz="175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 beste combinatie op de trainingsdata is ARIMA(2,1,1).</a:t>
            </a:r>
            <a:endParaRPr lang="en-US" sz="1750" dirty="0"/>
          </a:p>
        </p:txBody>
      </p:sp>
      <p:sp>
        <p:nvSpPr>
          <p:cNvPr id="8" name="Shape 5"/>
          <p:cNvSpPr/>
          <p:nvPr/>
        </p:nvSpPr>
        <p:spPr>
          <a:xfrm>
            <a:off x="6784848" y="4279392"/>
            <a:ext cx="2057400" cy="914400"/>
          </a:xfrm>
          <a:prstGeom prst="roundRect">
            <a:avLst>
              <a:gd name="adj" fmla="val 8000"/>
            </a:avLst>
          </a:prstGeom>
          <a:solidFill>
            <a:srgbClr val="EAF2FF"/>
          </a:solidFill>
          <a:ln w="12700">
            <a:solidFill>
              <a:srgbClr val="EAF2FF"/>
            </a:solidFill>
            <a:prstDash val="solid"/>
          </a:ln>
          <a:effectLst>
            <a:outerShdw blurRad="19050" dist="508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6784848" y="4279392"/>
            <a:ext cx="64008" cy="914400"/>
          </a:xfrm>
          <a:prstGeom prst="rect">
            <a:avLst/>
          </a:prstGeom>
          <a:solidFill>
            <a:srgbClr val="2E6FDE"/>
          </a:solidFill>
          <a:ln w="12700">
            <a:solidFill>
              <a:srgbClr val="2E6FDE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013448" y="4416552"/>
            <a:ext cx="173736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632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AIC 13539</a:t>
            </a:r>
            <a:endParaRPr lang="en-US" sz="2400" dirty="0"/>
          </a:p>
        </p:txBody>
      </p:sp>
      <p:sp>
        <p:nvSpPr>
          <p:cNvPr id="11" name="Text 8"/>
          <p:cNvSpPr/>
          <p:nvPr/>
        </p:nvSpPr>
        <p:spPr>
          <a:xfrm>
            <a:off x="7013448" y="4846320"/>
            <a:ext cx="173736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B65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laagste score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9070848" y="4279392"/>
            <a:ext cx="2057400" cy="914400"/>
          </a:xfrm>
          <a:prstGeom prst="roundRect">
            <a:avLst>
              <a:gd name="adj" fmla="val 8000"/>
            </a:avLst>
          </a:prstGeom>
          <a:solidFill>
            <a:srgbClr val="E8F7F7"/>
          </a:solidFill>
          <a:ln w="12700">
            <a:solidFill>
              <a:srgbClr val="E8F7F7"/>
            </a:solidFill>
            <a:prstDash val="solid"/>
          </a:ln>
          <a:effectLst>
            <a:outerShdw blurRad="19050" dist="508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9070848" y="4279392"/>
            <a:ext cx="64008" cy="914400"/>
          </a:xfrm>
          <a:prstGeom prst="rect">
            <a:avLst/>
          </a:prstGeom>
          <a:solidFill>
            <a:srgbClr val="1FA5A5"/>
          </a:solidFill>
          <a:ln w="12700">
            <a:solidFill>
              <a:srgbClr val="1FA5A5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9299448" y="4416552"/>
            <a:ext cx="173736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632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(2,1,1)</a:t>
            </a:r>
            <a:endParaRPr lang="en-US" sz="2400" dirty="0"/>
          </a:p>
        </p:txBody>
      </p:sp>
      <p:sp>
        <p:nvSpPr>
          <p:cNvPr id="15" name="Text 12"/>
          <p:cNvSpPr/>
          <p:nvPr/>
        </p:nvSpPr>
        <p:spPr>
          <a:xfrm>
            <a:off x="9299448" y="4846320"/>
            <a:ext cx="173736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B65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gekozen order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67160" y="6419088"/>
            <a:ext cx="228600" cy="182880"/>
          </a:xfrm>
          <a:prstGeom prst="rect">
            <a:avLst/>
          </a:prstGeom>
        </p:spPr>
        <p:txBody>
          <a:bodyPr/>
          <a:lstStyle>
            <a:lvl1pPr>
              <a:defRPr sz="1000">
                <a:solidFill>
                  <a:srgbClr val="5B6572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11480"/>
            <a:ext cx="786384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632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30-daagse forecast met onzekerheidsband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94360" y="850392"/>
            <a:ext cx="804672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B65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 forecast is interessanter als je ook de onzekerheid zichtbaar maakt</a:t>
            </a:r>
            <a:endParaRPr lang="en-US" sz="1250" dirty="0"/>
          </a:p>
        </p:txBody>
      </p:sp>
      <p:pic>
        <p:nvPicPr>
          <p:cNvPr id="4" name="Image 0" descr="/mnt/data/assets_arima/future_forecast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4944" y="1880339"/>
            <a:ext cx="7406640" cy="3508802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8394192" y="1572768"/>
            <a:ext cx="2880360" cy="3977640"/>
          </a:xfrm>
          <a:prstGeom prst="roundRect">
            <a:avLst>
              <a:gd name="adj" fmla="val 1905"/>
            </a:avLst>
          </a:prstGeom>
          <a:solidFill>
            <a:srgbClr val="FFFFFF"/>
          </a:solidFill>
          <a:ln w="12700">
            <a:solidFill>
              <a:srgbClr val="D7E0EA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8668512" y="1828800"/>
            <a:ext cx="18288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632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Interpretatie</a:t>
            </a:r>
            <a:endParaRPr lang="en-US" sz="2000" dirty="0"/>
          </a:p>
        </p:txBody>
      </p:sp>
      <p:sp>
        <p:nvSpPr>
          <p:cNvPr id="7" name="Text 4"/>
          <p:cNvSpPr/>
          <p:nvPr/>
        </p:nvSpPr>
        <p:spPr>
          <a:xfrm>
            <a:off x="8613648" y="2240280"/>
            <a:ext cx="2286000" cy="1371600"/>
          </a:xfrm>
          <a:prstGeom prst="rect">
            <a:avLst/>
          </a:prstGeom>
          <a:noFill/>
        </p:spPr>
        <p:txBody>
          <a:bodyPr wrap="square" lIns="1016" tIns="1016" rIns="1016" bIns="1016" rtlCol="0" anchor="ctr"/>
          <a:lstStyle/>
          <a:p>
            <a:pPr marL="0" indent="0">
              <a:buSzPct val="100000"/>
              <a:buNone/>
            </a:pPr>
            <a:r>
              <a:rPr lang="en-US" sz="152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volle lijn = puntvoorspelling</a:t>
            </a:r>
            <a:r>
              <a:rPr lang="en-US" sz="152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
</a:t>
            </a:r>
            <a:endParaRPr lang="en-US" sz="1520" dirty="0"/>
          </a:p>
          <a:p>
            <a:pPr marL="0" indent="0">
              <a:buSzPct val="100000"/>
              <a:buNone/>
            </a:pPr>
            <a:r>
              <a:rPr lang="en-US" sz="152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gekleurde band = 95% confidence interval</a:t>
            </a:r>
            <a:r>
              <a:rPr lang="en-US" sz="152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
</a:t>
            </a:r>
            <a:endParaRPr lang="en-US" sz="1520" dirty="0"/>
          </a:p>
          <a:p>
            <a:pPr marL="203200" indent="-203200">
              <a:buSzPct val="100000"/>
              <a:buChar char="•"/>
            </a:pPr>
            <a:r>
              <a:rPr lang="en-US" sz="152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verticale lijn = start van de echte toekomst</a:t>
            </a:r>
            <a:endParaRPr lang="en-US" sz="1520" dirty="0"/>
          </a:p>
        </p:txBody>
      </p:sp>
      <p:sp>
        <p:nvSpPr>
          <p:cNvPr id="9" name="Text 6"/>
          <p:cNvSpPr/>
          <p:nvPr/>
        </p:nvSpPr>
        <p:spPr>
          <a:xfrm>
            <a:off x="8613648" y="4279392"/>
            <a:ext cx="2331720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20" i="1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"De band rond de forecast toont dat een model nooit absolute zekerheid geeft, maar een realistisch bereik."</a:t>
            </a:r>
            <a:endParaRPr lang="en-US" sz="13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67160" y="6419088"/>
            <a:ext cx="228600" cy="182880"/>
          </a:xfrm>
          <a:prstGeom prst="rect">
            <a:avLst/>
          </a:prstGeom>
        </p:spPr>
        <p:txBody>
          <a:bodyPr/>
          <a:lstStyle>
            <a:lvl1pPr>
              <a:defRPr sz="1000">
                <a:solidFill>
                  <a:srgbClr val="5B6572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11480"/>
            <a:ext cx="786384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632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Model evaluatie: train, test en RMSE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94360" y="850392"/>
            <a:ext cx="804672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B65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Dit is de extra grafiek die bewijst dat het model niet zomaar “iets tekent”</a:t>
            </a:r>
            <a:endParaRPr lang="en-US" sz="1250" dirty="0"/>
          </a:p>
        </p:txBody>
      </p:sp>
      <p:pic>
        <p:nvPicPr>
          <p:cNvPr id="4" name="Image 0" descr="/mnt/data/assets_arima/train_test_forecast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837020"/>
            <a:ext cx="7589520" cy="3595439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8549640" y="1627632"/>
            <a:ext cx="2331720" cy="914400"/>
          </a:xfrm>
          <a:prstGeom prst="roundRect">
            <a:avLst>
              <a:gd name="adj" fmla="val 8000"/>
            </a:avLst>
          </a:prstGeom>
          <a:solidFill>
            <a:srgbClr val="EAF2FF"/>
          </a:solidFill>
          <a:ln w="12700">
            <a:solidFill>
              <a:srgbClr val="EAF2FF"/>
            </a:solidFill>
            <a:prstDash val="solid"/>
          </a:ln>
          <a:effectLst>
            <a:outerShdw blurRad="19050" dist="508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8549640" y="1627632"/>
            <a:ext cx="64008" cy="914400"/>
          </a:xfrm>
          <a:prstGeom prst="rect">
            <a:avLst/>
          </a:prstGeom>
          <a:solidFill>
            <a:srgbClr val="2E6FDE"/>
          </a:solidFill>
          <a:ln w="12700">
            <a:solidFill>
              <a:srgbClr val="2E6FDE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8778240" y="1764792"/>
            <a:ext cx="201168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632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80 / 20</a:t>
            </a:r>
            <a:endParaRPr lang="en-US" sz="2400" dirty="0"/>
          </a:p>
        </p:txBody>
      </p:sp>
      <p:sp>
        <p:nvSpPr>
          <p:cNvPr id="8" name="Text 5"/>
          <p:cNvSpPr/>
          <p:nvPr/>
        </p:nvSpPr>
        <p:spPr>
          <a:xfrm>
            <a:off x="8778240" y="2194560"/>
            <a:ext cx="201168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B65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train-test split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8549640" y="2743200"/>
            <a:ext cx="2331720" cy="914400"/>
          </a:xfrm>
          <a:prstGeom prst="roundRect">
            <a:avLst>
              <a:gd name="adj" fmla="val 8000"/>
            </a:avLst>
          </a:prstGeom>
          <a:solidFill>
            <a:srgbClr val="EAF6EE"/>
          </a:solidFill>
          <a:ln w="12700">
            <a:solidFill>
              <a:srgbClr val="EAF6EE"/>
            </a:solidFill>
            <a:prstDash val="solid"/>
          </a:ln>
          <a:effectLst>
            <a:outerShdw blurRad="19050" dist="508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8549640" y="2743200"/>
            <a:ext cx="64008" cy="914400"/>
          </a:xfrm>
          <a:prstGeom prst="rect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8778240" y="2880360"/>
            <a:ext cx="201168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632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RMSE 5.28</a:t>
            </a:r>
            <a:endParaRPr lang="en-US" sz="2400" dirty="0"/>
          </a:p>
        </p:txBody>
      </p:sp>
      <p:sp>
        <p:nvSpPr>
          <p:cNvPr id="12" name="Text 9"/>
          <p:cNvSpPr/>
          <p:nvPr/>
        </p:nvSpPr>
        <p:spPr>
          <a:xfrm>
            <a:off x="8778240" y="3310128"/>
            <a:ext cx="201168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B65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gemiddelde foutmaat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8366760" y="3858768"/>
            <a:ext cx="2743200" cy="1417320"/>
          </a:xfrm>
          <a:prstGeom prst="roundRect">
            <a:avLst>
              <a:gd name="adj" fmla="val 3871"/>
            </a:avLst>
          </a:prstGeom>
          <a:solidFill>
            <a:srgbClr val="E8F7F7"/>
          </a:solidFill>
          <a:ln w="12700">
            <a:solidFill>
              <a:srgbClr val="E8F7F7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8531352" y="4059936"/>
            <a:ext cx="2331720" cy="10058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320" dirty="0"/>
          </a:p>
          <a:p>
            <a:pPr marL="0" indent="0">
              <a:buNone/>
            </a:pPr>
            <a:r>
              <a:rPr lang="en-US" sz="1320" i="1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"De forecast volgt de echte testwaarden redelijk goed, dus het model generaliseert beter dan een puur visuele fit."</a:t>
            </a:r>
            <a:endParaRPr lang="en-US" sz="13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67160" y="6419088"/>
            <a:ext cx="228600" cy="182880"/>
          </a:xfrm>
          <a:prstGeom prst="rect">
            <a:avLst/>
          </a:prstGeom>
        </p:spPr>
        <p:txBody>
          <a:bodyPr/>
          <a:lstStyle>
            <a:lvl1pPr>
              <a:defRPr sz="1000">
                <a:solidFill>
                  <a:srgbClr val="5B6572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11480"/>
            <a:ext cx="786384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632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Demo en conclusie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94360" y="850392"/>
            <a:ext cx="804672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B65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Wat ik live toon in minder dan 2 minuten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731520" y="1463040"/>
            <a:ext cx="5166360" cy="4389120"/>
          </a:xfrm>
          <a:prstGeom prst="roundRect">
            <a:avLst>
              <a:gd name="adj" fmla="val 1250"/>
            </a:avLst>
          </a:prstGeom>
          <a:solidFill>
            <a:srgbClr val="FFFFFF"/>
          </a:solidFill>
          <a:ln w="12700">
            <a:solidFill>
              <a:srgbClr val="D7E0E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24128" y="1783080"/>
            <a:ext cx="201168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1632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Demo flow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987552" y="2148840"/>
            <a:ext cx="4526280" cy="2194560"/>
          </a:xfrm>
          <a:prstGeom prst="rect">
            <a:avLst/>
          </a:prstGeom>
          <a:noFill/>
        </p:spPr>
        <p:txBody>
          <a:bodyPr wrap="square" lIns="1016" tIns="1016" rIns="1016" bIns="1016" rtlCol="0" anchor="ctr"/>
          <a:lstStyle/>
          <a:p>
            <a:pPr marL="0" indent="0">
              <a:buSzPct val="100000"/>
              <a:buNone/>
            </a:pPr>
            <a:r>
              <a:rPr lang="en-US" sz="170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Notebook openen en datasetgrafiek tonen.</a:t>
            </a:r>
            <a:r>
              <a:rPr lang="en-US" sz="170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
</a:t>
            </a:r>
            <a:endParaRPr lang="en-US" sz="1700" dirty="0"/>
          </a:p>
          <a:p>
            <a:pPr marL="0" indent="0">
              <a:buSzPct val="100000"/>
              <a:buNone/>
            </a:pPr>
            <a:r>
              <a:rPr lang="en-US" sz="170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Kort wijzen op rolling mean en differencing.</a:t>
            </a:r>
            <a:r>
              <a:rPr lang="en-US" sz="170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
</a:t>
            </a:r>
            <a:endParaRPr lang="en-US" sz="1700" dirty="0"/>
          </a:p>
          <a:p>
            <a:pPr marL="0" indent="0">
              <a:buSzPct val="100000"/>
              <a:buNone/>
            </a:pPr>
            <a:r>
              <a:rPr lang="en-US" sz="170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 gevonden order (2,1,1) tonen.</a:t>
            </a:r>
            <a:r>
              <a:rPr lang="en-US" sz="170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
</a:t>
            </a:r>
            <a:endParaRPr lang="en-US" sz="1700" dirty="0"/>
          </a:p>
          <a:p>
            <a:pPr marL="0" indent="0">
              <a:buSzPct val="100000"/>
              <a:buNone/>
            </a:pPr>
            <a:r>
              <a:rPr lang="en-US" sz="170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Forecast-cel uitvoeren.</a:t>
            </a:r>
            <a:r>
              <a:rPr lang="en-US" sz="170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
</a:t>
            </a:r>
            <a:endParaRPr lang="en-US" sz="1700" dirty="0"/>
          </a:p>
          <a:p>
            <a:pPr indent="0">
              <a:buSzPct val="100000"/>
              <a:buNone/>
            </a:pPr>
            <a:r>
              <a:rPr lang="en-US" sz="170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Tot slot train-testgrafiek en RMSE laten zien.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6217920" y="1463040"/>
            <a:ext cx="5230368" cy="4389120"/>
          </a:xfrm>
          <a:prstGeom prst="roundRect">
            <a:avLst>
              <a:gd name="adj" fmla="val 1250"/>
            </a:avLst>
          </a:prstGeom>
          <a:solidFill>
            <a:srgbClr val="FFFFFF"/>
          </a:solidFill>
          <a:ln w="12700">
            <a:solidFill>
              <a:srgbClr val="D7E0E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510528" y="1783080"/>
            <a:ext cx="310896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1632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Conclusie </a:t>
            </a:r>
            <a:endParaRPr lang="en-US" sz="2100" dirty="0"/>
          </a:p>
        </p:txBody>
      </p:sp>
      <p:sp>
        <p:nvSpPr>
          <p:cNvPr id="9" name="Text 7"/>
          <p:cNvSpPr/>
          <p:nvPr/>
        </p:nvSpPr>
        <p:spPr>
          <a:xfrm>
            <a:off x="6473952" y="2148840"/>
            <a:ext cx="4526280" cy="2057400"/>
          </a:xfrm>
          <a:prstGeom prst="rect">
            <a:avLst/>
          </a:prstGeom>
          <a:noFill/>
        </p:spPr>
        <p:txBody>
          <a:bodyPr wrap="square" lIns="1016" tIns="1016" rIns="1016" bIns="1016" rtlCol="0" anchor="ctr"/>
          <a:lstStyle/>
          <a:p>
            <a:pPr marL="0" indent="0">
              <a:buSzPct val="100000"/>
              <a:buNone/>
            </a:pPr>
            <a:r>
              <a:rPr lang="en-US" sz="170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ARIMA is eenvoudig, uitlegbaar en goed genoeg voor een sterke demo.</a:t>
            </a:r>
            <a:r>
              <a:rPr lang="en-US" sz="170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
</a:t>
            </a:r>
            <a:endParaRPr lang="en-US" sz="1700" dirty="0"/>
          </a:p>
          <a:p>
            <a:pPr marL="0" indent="0">
              <a:buSzPct val="100000"/>
              <a:buNone/>
            </a:pPr>
            <a:r>
              <a:rPr lang="en-US" sz="170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Automatische parameterkeuze en evaluatie tillen het project naar een hoger niveau.</a:t>
            </a:r>
            <a:r>
              <a:rPr lang="en-US" sz="170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
</a:t>
            </a:r>
            <a:endParaRPr lang="en-US" sz="1700" dirty="0"/>
          </a:p>
          <a:p>
            <a:pPr marL="203200" indent="-203200">
              <a:buSzPct val="100000"/>
              <a:buChar char="•"/>
            </a:pPr>
            <a:r>
              <a:rPr lang="en-US" sz="170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Volgende stap: SARIMA voor seizoenen of LSTM voor een complexere vergelijking.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6473952" y="4791456"/>
            <a:ext cx="4526280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20" i="1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"Dit project toont hoe je van ruwe tijdsdata naar een werkend en verdedigbaar forecastingmodel gaat."</a:t>
            </a:r>
            <a:endParaRPr lang="en-US" sz="14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67160" y="6419088"/>
            <a:ext cx="228600" cy="182880"/>
          </a:xfrm>
          <a:prstGeom prst="rect">
            <a:avLst/>
          </a:prstGeom>
        </p:spPr>
        <p:txBody>
          <a:bodyPr/>
          <a:lstStyle>
            <a:lvl1pPr>
              <a:defRPr sz="1000">
                <a:solidFill>
                  <a:srgbClr val="5B6572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3085</Words>
  <Application>WPS Presentation</Application>
  <PresentationFormat>On-screen Show (16:9)</PresentationFormat>
  <Paragraphs>181</Paragraphs>
  <Slides>9</Slides>
  <Notes>9</Notes>
  <HiddenSlides>0</HiddenSlides>
  <MMClips>0</MMClips>
  <ScaleCrop>false</ScaleCrop>
  <HeadingPairs>
    <vt:vector size="6" baseType="variant">
      <vt:variant>
        <vt:lpstr>已用的字体</vt:lpstr>
      </vt:variant>
      <vt:variant>
        <vt:i4>13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9</vt:i4>
      </vt:variant>
    </vt:vector>
  </HeadingPairs>
  <TitlesOfParts>
    <vt:vector size="23" baseType="lpstr">
      <vt:lpstr>Arial</vt:lpstr>
      <vt:lpstr>SimSun</vt:lpstr>
      <vt:lpstr>Wingdings</vt:lpstr>
      <vt:lpstr>Aptos</vt:lpstr>
      <vt:lpstr>Segoe UI</vt:lpstr>
      <vt:lpstr>Aptos</vt:lpstr>
      <vt:lpstr>Aptos</vt:lpstr>
      <vt:lpstr>Aptos</vt:lpstr>
      <vt:lpstr>Aptos Display</vt:lpstr>
      <vt:lpstr>Aptos Display</vt:lpstr>
      <vt:lpstr>Aptos Display</vt:lpstr>
      <vt:lpstr>Microsoft YaHei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OpenAI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Time Series Forecasting met ARIMA</dc:title>
  <dc:creator>OpenAI</dc:creator>
  <dc:subject>Time Series Forecasting with ARIMA</dc:subject>
  <cp:lastModifiedBy>Dirk</cp:lastModifiedBy>
  <cp:revision>3</cp:revision>
  <dcterms:created xsi:type="dcterms:W3CDTF">2026-03-28T21:43:00Z</dcterms:created>
  <dcterms:modified xsi:type="dcterms:W3CDTF">2026-03-30T19:51:44Z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EA4F89D01CB74F929B89D561DA871654_12</vt:lpwstr>
  </property>
  <property fmtid="{D5CDD505-2E9C-101B-9397-08002B2CF9AE}" pid="3" name="KSOProductBuildVer">
    <vt:lpwstr>1033-12.2.0.23155</vt:lpwstr>
  </property>
</Properties>
</file>