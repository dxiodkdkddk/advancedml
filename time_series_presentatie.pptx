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7" r:id="rId11"/>
    <p:sldId id="268" r:id="rId12"/>
    <p:sldId id="263" r:id="rId13"/>
    <p:sldId id="266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9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159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Introductie van het onderwerp en waarom tijdreeksen belangrijk zijn.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Leg uit dat modellen zoals ARIMA stationaire data vereisen.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Leg uit dat dit smoothing is om trends zichtbaar te maken.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Leg uit dat differencing de trend elimineert.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Samenvatting van de twee technieken.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Zonder stationariteit werkt ARIMA slecht.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ACF toont correlatie inclusief indirecte effecten.</a:t>
            </a:r>
          </a:p>
          <a:p>
            <a:r>
              <a:t>PACF toont enkel directe correlaties.</a:t>
            </a:r>
          </a:p>
          <a:p>
            <a:r>
              <a:t>Gebruik deze om p en q te bepalen.</a:t>
            </a:r>
          </a:p>
          <a:p>
            <a:r>
              <a:t>Combineer met differencing (d) voor stationariteit.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Time Series Analyse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Rolling Mean &amp; Differencing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Data bevat trend + ruis</a:t>
            </a:r>
          </a:p>
          <a:p>
            <a:r>
              <a:t>Niet geschikt voor modellen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Rolling Mean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Gemiddelde </a:t>
            </a:r>
          </a:p>
          <a:p>
            <a:r>
              <a:t>Toont trend</a:t>
            </a:r>
          </a:p>
        </p:txBody>
      </p:sp>
      <p:pic>
        <p:nvPicPr>
          <p:cNvPr id="4" name="Picture 3" descr="rolling_mean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0" y="1371600"/>
            <a:ext cx="365760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Differencing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y(t) - y(t-1)</a:t>
            </a:r>
          </a:p>
          <a:p>
            <a:r>
              <a:t>Verwijdert trend</a:t>
            </a:r>
          </a:p>
        </p:txBody>
      </p:sp>
      <p:pic>
        <p:nvPicPr>
          <p:cNvPr id="4" name="Picture 3" descr="differencing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0" y="1371600"/>
            <a:ext cx="365760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Resultaat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Trend zichtbaar → Rolling Mean</a:t>
            </a:r>
          </a:p>
          <a:p>
            <a:r>
              <a:t>Stationair → Differencing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Waarom belangrijk?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Betere modellen</a:t>
            </a:r>
          </a:p>
          <a:p>
            <a:r>
              <a:t>Correcte voorspellingen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ACF &amp; PACF – Parameter keuze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25000"/>
          </a:bodyPr>
          <a:lstStyle/>
          <a:p>
            <a:r>
              <a:rPr sz="12000"/>
              <a:t>ACF</a:t>
            </a:r>
            <a:r>
              <a:rPr lang="nl-BE" sz="12000"/>
              <a:t>(</a:t>
            </a:r>
            <a:r>
              <a:rPr lang="en-US" altLang="en-US" sz="12000"/>
              <a:t>AutoCorrelation Function</a:t>
            </a:r>
            <a:r>
              <a:rPr lang="nl-BE" altLang="en-US" sz="12000"/>
              <a:t>)</a:t>
            </a:r>
            <a:r>
              <a:rPr sz="12000"/>
              <a:t> </a:t>
            </a:r>
            <a:endParaRPr sz="12000"/>
          </a:p>
          <a:p>
            <a:pPr marL="0" indent="457200">
              <a:buNone/>
            </a:pPr>
            <a:r>
              <a:rPr sz="12000"/>
              <a:t>→ helpt bij q (MA)</a:t>
            </a:r>
            <a:endParaRPr sz="5600"/>
          </a:p>
          <a:p>
            <a:pPr marL="0" indent="457200">
              <a:buNone/>
            </a:pPr>
            <a:endParaRPr lang="en-US" altLang="en-US"/>
          </a:p>
          <a:p>
            <a:pPr marL="0" indent="457200">
              <a:buNone/>
            </a:pPr>
            <a:r>
              <a:rPr lang="en-US" altLang="en-US" sz="6665"/>
              <a:t>vandaag veel verkopen</a:t>
            </a:r>
            <a:endParaRPr lang="en-US" altLang="en-US" sz="6665"/>
          </a:p>
          <a:p>
            <a:pPr marL="0" indent="457200">
              <a:buNone/>
            </a:pPr>
            <a:r>
              <a:rPr lang="en-US" altLang="en-US" sz="6665"/>
              <a:t>gisteren ook veel verkopen</a:t>
            </a:r>
            <a:endParaRPr lang="en-US" altLang="en-US" sz="6665"/>
          </a:p>
          <a:p>
            <a:pPr marL="0" indent="457200">
              <a:buNone/>
            </a:pPr>
            <a:endParaRPr lang="en-US" altLang="en-US" sz="6665"/>
          </a:p>
          <a:p>
            <a:pPr marL="0" indent="457200">
              <a:buNone/>
            </a:pPr>
            <a:r>
              <a:rPr lang="zh-CN" altLang="en-US" sz="6665"/>
              <a:t>👉</a:t>
            </a:r>
            <a:r>
              <a:rPr lang="en-US" altLang="en-US" sz="6665"/>
              <a:t> dan is er hoge autocorrelatie</a:t>
            </a:r>
            <a:endParaRPr lang="en-US" altLang="en-US" sz="6665"/>
          </a:p>
          <a:p>
            <a:pPr marL="0" indent="457200">
              <a:buNone/>
            </a:pPr>
            <a:endParaRPr lang="en-US" altLang="en-US" sz="6665"/>
          </a:p>
          <a:p>
            <a:pPr marL="0" indent="457200">
              <a:buNone/>
            </a:pPr>
            <a:endParaRPr lang="en-US" altLang="en-US" sz="6665"/>
          </a:p>
          <a:p>
            <a:pPr marL="0" indent="457200">
              <a:buNone/>
            </a:pPr>
            <a:r>
              <a:rPr lang="en-US" altLang="en-US" sz="6665"/>
              <a:t>Interpretatie:</a:t>
            </a:r>
            <a:endParaRPr lang="en-US" altLang="en-US" sz="6665"/>
          </a:p>
          <a:p>
            <a:pPr marL="0" indent="457200">
              <a:buNone/>
            </a:pPr>
            <a:r>
              <a:rPr lang="en-US" altLang="en-US" sz="6665"/>
              <a:t>dicht bij 1 → sterke positieve relatie</a:t>
            </a:r>
            <a:endParaRPr lang="en-US" altLang="en-US" sz="6665"/>
          </a:p>
          <a:p>
            <a:pPr marL="0" indent="457200">
              <a:buNone/>
            </a:pPr>
            <a:r>
              <a:rPr lang="en-US" altLang="en-US" sz="6665"/>
              <a:t>dicht bij 0 → geen relatie</a:t>
            </a:r>
            <a:endParaRPr lang="en-US" altLang="en-US" sz="6665"/>
          </a:p>
          <a:p>
            <a:pPr marL="0" indent="457200">
              <a:buNone/>
            </a:pPr>
            <a:r>
              <a:rPr lang="en-US" altLang="en-US" sz="6665"/>
              <a:t>negatief → omgekeerde relatie</a:t>
            </a:r>
            <a:endParaRPr lang="en-US" altLang="en-US" sz="6665"/>
          </a:p>
          <a:p>
            <a:pPr marL="0" indent="457200">
              <a:buNone/>
            </a:pPr>
            <a:endParaRPr lang="en-US" altLang="en-US"/>
          </a:p>
          <a:p/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nl-BE" altLang="en-US"/>
              <a:t>ACF grafiek</a:t>
            </a:r>
            <a:endParaRPr lang="nl-BE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7815" y="5440045"/>
            <a:ext cx="8229600" cy="4525963"/>
          </a:xfrm>
        </p:spPr>
        <p:txBody>
          <a:bodyPr/>
          <a:p>
            <a:r>
              <a:rPr lang="en-US" altLang="en-US" sz="2700"/>
              <a:t>We zien dat de autocorrelaties langzaam afnemen, wat wijst op een trend. De reeks is dus niet stationair.”</a:t>
            </a:r>
            <a:endParaRPr lang="en-US" altLang="en-US" sz="2700"/>
          </a:p>
        </p:txBody>
      </p:sp>
      <p:pic>
        <p:nvPicPr>
          <p:cNvPr id="4" name="Picture 3" descr="acfvoor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74850" y="1440180"/>
            <a:ext cx="5193665" cy="397764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nl-BE" altLang="en-US"/>
              <a:t>ACF grafiek</a:t>
            </a:r>
            <a:endParaRPr lang="nl-BE" altLang="en-US"/>
          </a:p>
        </p:txBody>
      </p:sp>
      <p:pic>
        <p:nvPicPr>
          <p:cNvPr id="4" name="Content Placeholder 3" descr="acfna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664970" y="1231265"/>
            <a:ext cx="5193665" cy="3977640"/>
          </a:xfrm>
          <a:prstGeom prst="rect">
            <a:avLst/>
          </a:prstGeom>
        </p:spPr>
      </p:pic>
      <p:sp>
        <p:nvSpPr>
          <p:cNvPr id="5" name="Text Box 4"/>
          <p:cNvSpPr txBox="1"/>
          <p:nvPr/>
        </p:nvSpPr>
        <p:spPr>
          <a:xfrm>
            <a:off x="2032000" y="5208905"/>
            <a:ext cx="5080000" cy="848360"/>
          </a:xfrm>
          <a:prstGeom prst="rect">
            <a:avLst/>
          </a:prstGeom>
        </p:spPr>
        <p:txBody>
          <a:bodyPr>
            <a:noAutofit/>
          </a:bodyPr>
          <a:p>
            <a:r>
              <a:rPr sz="1600"/>
              <a:t>“Na differentiatie verdwijnen de lange afhankelijkheden en zien we dat de correlaties snel rond nul liggen. De reeks is nu stationair.”</a:t>
            </a:r>
            <a:endParaRPr sz="16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>
                <a:sym typeface="+mn-ea"/>
              </a:rPr>
              <a:t>ACF &amp; PACF – Parameter keuze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25000"/>
          </a:bodyPr>
          <a:p>
            <a:r>
              <a:rPr sz="12000">
                <a:sym typeface="+mn-ea"/>
              </a:rPr>
              <a:t>PACF </a:t>
            </a:r>
            <a:r>
              <a:rPr lang="nl-BE" sz="12000">
                <a:sym typeface="+mn-ea"/>
              </a:rPr>
              <a:t>(</a:t>
            </a:r>
            <a:r>
              <a:rPr lang="en-US" altLang="en-US" sz="12000">
                <a:sym typeface="+mn-ea"/>
              </a:rPr>
              <a:t>Partial AutoCorrelation Function</a:t>
            </a:r>
            <a:r>
              <a:rPr lang="nl-BE" altLang="en-US" sz="12000">
                <a:sym typeface="+mn-ea"/>
              </a:rPr>
              <a:t>)</a:t>
            </a:r>
            <a:endParaRPr lang="nl-BE" altLang="en-US" sz="12000">
              <a:sym typeface="+mn-ea"/>
            </a:endParaRPr>
          </a:p>
          <a:p>
            <a:pPr marL="0" indent="0">
              <a:buNone/>
            </a:pPr>
            <a:r>
              <a:rPr sz="12000">
                <a:sym typeface="+mn-ea"/>
              </a:rPr>
              <a:t>→ helpt bij p (AR)</a:t>
            </a:r>
            <a:endParaRPr sz="12000">
              <a:sym typeface="+mn-ea"/>
            </a:endParaRPr>
          </a:p>
          <a:p>
            <a:pPr marL="0" indent="0">
              <a:buNone/>
            </a:pPr>
            <a:endParaRPr lang="en-US" altLang="en-US" sz="10000"/>
          </a:p>
          <a:p>
            <a:pPr marL="0" indent="0">
              <a:buNone/>
            </a:pPr>
            <a:r>
              <a:rPr lang="en-US" altLang="en-US" sz="6800"/>
              <a:t>PACF meet</a:t>
            </a:r>
            <a:r>
              <a:rPr lang="nl-BE" altLang="en-US" sz="6800"/>
              <a:t> </a:t>
            </a:r>
            <a:r>
              <a:rPr lang="en-US" altLang="en-US" sz="6800"/>
              <a:t>de directe relatie tussen een waarde en zijn vorige waarden </a:t>
            </a:r>
            <a:r>
              <a:rPr lang="nl-BE" altLang="en-US" sz="6800"/>
              <a:t>z</a:t>
            </a:r>
            <a:r>
              <a:rPr lang="en-US" altLang="en-US" sz="6800"/>
              <a:t>onder invloed van tussenliggende stappen.</a:t>
            </a:r>
            <a:endParaRPr lang="en-US" altLang="en-US" sz="6800"/>
          </a:p>
          <a:p>
            <a:endParaRPr lang="en-US" altLang="en-US" sz="6800"/>
          </a:p>
          <a:p>
            <a:r>
              <a:rPr lang="en-US" altLang="en-US" sz="6800"/>
              <a:t>belangrijk verschil met ACF</a:t>
            </a:r>
            <a:endParaRPr lang="en-US" altLang="en-US" sz="6800"/>
          </a:p>
          <a:p>
            <a:pPr marL="0" indent="0">
              <a:buNone/>
            </a:pPr>
            <a:r>
              <a:rPr lang="en-US" altLang="en-US" sz="6800"/>
              <a:t>Stel:</a:t>
            </a:r>
            <a:endParaRPr lang="en-US" altLang="en-US" sz="6800"/>
          </a:p>
          <a:p>
            <a:r>
              <a:rPr lang="en-US" altLang="en-US" sz="6800"/>
              <a:t>t hangt af van t-1</a:t>
            </a:r>
            <a:r>
              <a:rPr lang="nl-BE" altLang="en-US" sz="6800"/>
              <a:t> en </a:t>
            </a:r>
            <a:r>
              <a:rPr lang="en-US" altLang="en-US" sz="6800"/>
              <a:t>t-1 hangt af van t-2</a:t>
            </a:r>
            <a:endParaRPr lang="en-US" altLang="en-US" sz="6800"/>
          </a:p>
          <a:p>
            <a:pPr marL="0" indent="0">
              <a:buNone/>
            </a:pPr>
            <a:r>
              <a:rPr lang="en-US" altLang="en-US" sz="6800"/>
              <a:t>Dan:</a:t>
            </a:r>
            <a:endParaRPr lang="en-US" altLang="en-US" sz="6800"/>
          </a:p>
          <a:p>
            <a:r>
              <a:rPr lang="en-US" altLang="en-US" sz="6800"/>
              <a:t>ACF ziet: t ↔ t-2 (indirect)</a:t>
            </a:r>
            <a:endParaRPr lang="en-US" altLang="en-US" sz="6800"/>
          </a:p>
          <a:p>
            <a:r>
              <a:rPr lang="en-US" altLang="en-US" sz="6800"/>
              <a:t>PACF zegt: “is er een directe link?”</a:t>
            </a:r>
            <a:endParaRPr lang="en-US" altLang="en-US" sz="6800"/>
          </a:p>
          <a:p>
            <a:pPr marL="0" indent="0">
              <a:buNone/>
            </a:pPr>
            <a:endParaRPr lang="en-US" altLang="en-US" sz="68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p>
            <a:r>
              <a:rPr lang="nl-BE" altLang="en-US"/>
              <a:t>PACF grafiek</a:t>
            </a:r>
            <a:endParaRPr lang="nl-BE" altLang="en-US"/>
          </a:p>
        </p:txBody>
      </p:sp>
      <p:pic>
        <p:nvPicPr>
          <p:cNvPr id="4" name="Content Placeholder 3" descr="pacf_example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554480" y="1600200"/>
            <a:ext cx="6034405" cy="452628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>
                <a:sym typeface="+mn-ea"/>
              </a:rPr>
              <a:t>ACF &amp; PACF – Parameter keuze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0000" lnSpcReduction="20000"/>
          </a:bodyPr>
          <a:p>
            <a:r>
              <a:rPr lang="en-US" altLang="en-US" sz="3000">
                <a:sym typeface="+mn-ea"/>
              </a:rPr>
              <a:t>Wat zie je in PACF grafiek?</a:t>
            </a:r>
            <a:endParaRPr lang="en-US" altLang="en-US" sz="3000">
              <a:sym typeface="+mn-ea"/>
            </a:endParaRPr>
          </a:p>
          <a:p>
            <a:endParaRPr lang="en-US" altLang="en-US" sz="3000"/>
          </a:p>
          <a:p>
            <a:r>
              <a:rPr lang="en-US" altLang="en-US" sz="2700">
                <a:sym typeface="+mn-ea"/>
              </a:rPr>
              <a:t>X-as = lags</a:t>
            </a:r>
            <a:endParaRPr lang="en-US" altLang="en-US" sz="2700"/>
          </a:p>
          <a:p>
            <a:r>
              <a:rPr lang="en-US" altLang="en-US" sz="2700">
                <a:sym typeface="+mn-ea"/>
              </a:rPr>
              <a:t>Y-as = directe correlatie</a:t>
            </a:r>
            <a:endParaRPr lang="en-US" altLang="en-US" sz="2700"/>
          </a:p>
          <a:p>
            <a:endParaRPr lang="en-US" altLang="en-US" sz="2700"/>
          </a:p>
          <a:p>
            <a:r>
              <a:rPr lang="en-US" altLang="en-US" sz="2700">
                <a:sym typeface="+mn-ea"/>
              </a:rPr>
              <a:t> Enkel pure invloed per lag</a:t>
            </a:r>
            <a:endParaRPr lang="en-US" altLang="en-US" sz="2700"/>
          </a:p>
          <a:p>
            <a:endParaRPr lang="en-US" sz="2700"/>
          </a:p>
          <a:p>
            <a:pPr marL="0" indent="0">
              <a:buNone/>
            </a:pPr>
            <a:r>
              <a:rPr lang="en-US" altLang="en-US" sz="2700"/>
              <a:t>De PACF toont de directe invloed van vorige waarden op de huidige waarde.</a:t>
            </a:r>
            <a:endParaRPr lang="en-US" altLang="en-US" sz="2700"/>
          </a:p>
          <a:p>
            <a:pPr marL="0" indent="0">
              <a:buNone/>
            </a:pPr>
            <a:r>
              <a:rPr lang="en-US" altLang="en-US" sz="2700"/>
              <a:t>In tegenstelling tot ACF verwijdert PACF indirecte effecten.</a:t>
            </a:r>
            <a:endParaRPr lang="en-US" altLang="en-US" sz="2700"/>
          </a:p>
          <a:p>
            <a:pPr marL="0" indent="0">
              <a:buNone/>
            </a:pPr>
            <a:r>
              <a:rPr lang="en-US" altLang="en-US" sz="2700"/>
              <a:t>Daarom gebruiken we PACF om het aantal autoregressieve termen te bepalen.”</a:t>
            </a:r>
            <a:endParaRPr lang="en-US" altLang="en-US" sz="27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>
                <a:sym typeface="+mn-ea"/>
              </a:rPr>
              <a:t>ACF &amp; PACF – Parameter keuze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0000" lnSpcReduction="10000"/>
          </a:bodyPr>
          <a:p>
            <a:pPr marL="0" indent="0">
              <a:buNone/>
            </a:pPr>
            <a:r>
              <a:rPr lang="en-US" altLang="en-US" sz="3000"/>
              <a:t>PACF helpt ons om de echte, directe afhankelijkheden te vinden in de tijdreeks.</a:t>
            </a:r>
            <a:endParaRPr lang="en-US" altLang="en-US" sz="3000"/>
          </a:p>
          <a:p>
            <a:endParaRPr lang="en-US" altLang="en-US" sz="3000"/>
          </a:p>
          <a:p>
            <a:pPr marL="0" indent="0">
              <a:buNone/>
            </a:pPr>
            <a:r>
              <a:rPr lang="nl-BE" altLang="en-US" sz="3000" b="1" u="sng"/>
              <a:t>conclusie</a:t>
            </a:r>
            <a:endParaRPr lang="en-US" altLang="en-US" sz="3000" b="1" u="sng"/>
          </a:p>
          <a:p>
            <a:pPr marL="0" indent="0">
              <a:buNone/>
            </a:pPr>
            <a:r>
              <a:rPr lang="en-US" altLang="en-US" sz="3000"/>
              <a:t>We gebruiken </a:t>
            </a:r>
            <a:endParaRPr lang="en-US" altLang="en-US" sz="3000"/>
          </a:p>
          <a:p>
            <a:r>
              <a:rPr lang="en-US" altLang="en-US" sz="3000"/>
              <a:t>differencing voor stationariteit</a:t>
            </a:r>
            <a:endParaRPr lang="en-US" altLang="en-US" sz="3000"/>
          </a:p>
          <a:p>
            <a:r>
              <a:rPr lang="en-US" altLang="en-US" sz="3000"/>
              <a:t>PACF voor p</a:t>
            </a:r>
            <a:endParaRPr lang="en-US" altLang="en-US" sz="3000"/>
          </a:p>
          <a:p>
            <a:r>
              <a:rPr lang="en-US" altLang="en-US" sz="3000"/>
              <a:t>ACF voor q </a:t>
            </a:r>
            <a:endParaRPr lang="en-US" altLang="en-US" sz="3000"/>
          </a:p>
          <a:p>
            <a:pPr marL="0" indent="0">
              <a:buNone/>
            </a:pPr>
            <a:endParaRPr lang="en-US" altLang="en-US" sz="3000"/>
          </a:p>
          <a:p>
            <a:pPr marL="0" indent="0">
              <a:buNone/>
            </a:pPr>
            <a:r>
              <a:rPr lang="en-US" altLang="en-US" sz="3000"/>
              <a:t>zo bouwen we systematisch een ARIMA model.</a:t>
            </a:r>
            <a:endParaRPr lang="en-US" altLang="en-US" sz="30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1725</Words>
  <Application>WPS Presentation</Application>
  <PresentationFormat>On-screen Show (4:3)</PresentationFormat>
  <Paragraphs>97</Paragraphs>
  <Slides>13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21" baseType="lpstr">
      <vt:lpstr>Arial</vt:lpstr>
      <vt:lpstr>SimSun</vt:lpstr>
      <vt:lpstr>Wingdings</vt:lpstr>
      <vt:lpstr>Arial</vt:lpstr>
      <vt:lpstr>Calibri</vt:lpstr>
      <vt:lpstr>Microsoft YaHei</vt:lpstr>
      <vt:lpstr>Arial Unicode MS</vt:lpstr>
      <vt:lpstr>Office Theme</vt:lpstr>
      <vt:lpstr>Time Series Analyse</vt:lpstr>
      <vt:lpstr>Probleem</vt:lpstr>
      <vt:lpstr>Rolling Mean</vt:lpstr>
      <vt:lpstr>Differencing</vt:lpstr>
      <vt:lpstr>Resultaat</vt:lpstr>
      <vt:lpstr>Waarom belangrijk?</vt:lpstr>
      <vt:lpstr>ACF &amp; PACF – Parameter keuze</vt:lpstr>
      <vt:lpstr>PowerPoint 演示文稿</vt:lpstr>
      <vt:lpstr>PowerPoint 演示文稿</vt:lpstr>
      <vt:lpstr>ACF &amp; PACF – Parameter keuze</vt:lpstr>
      <vt:lpstr>PowerPoint 演示文稿</vt:lpstr>
      <vt:lpstr>ACF &amp; PACF – Parameter keuze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Dirk</cp:lastModifiedBy>
  <cp:revision>4</cp:revision>
  <dcterms:created xsi:type="dcterms:W3CDTF">2013-01-27T09:14:00Z</dcterms:created>
  <dcterms:modified xsi:type="dcterms:W3CDTF">2026-03-30T20:10:53Z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DABF02A1C6EB4DAD88F48FE031F5A287_12</vt:lpwstr>
  </property>
  <property fmtid="{D5CDD505-2E9C-101B-9397-08002B2CF9AE}" pid="3" name="KSOProductBuildVer">
    <vt:lpwstr>1033-12.2.0.23155</vt:lpwstr>
  </property>
</Properties>
</file>